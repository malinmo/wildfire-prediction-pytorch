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6" r:id="rId5"/>
    <p:sldId id="1520" r:id="rId6"/>
    <p:sldId id="258" r:id="rId7"/>
    <p:sldId id="259" r:id="rId8"/>
    <p:sldId id="1522" r:id="rId9"/>
    <p:sldId id="1523" r:id="rId10"/>
    <p:sldId id="1519" r:id="rId11"/>
    <p:sldId id="151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1649" autoAdjust="0"/>
  </p:normalViewPr>
  <p:slideViewPr>
    <p:cSldViewPr snapToGrid="0">
      <p:cViewPr varScale="1">
        <p:scale>
          <a:sx n="98" d="100"/>
          <a:sy n="98" d="100"/>
        </p:scale>
        <p:origin x="9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978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94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475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434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611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</a:t>
            </a:r>
            <a:r>
              <a:rPr lang="en-US" dirty="0" err="1"/>
              <a:t>annan</a:t>
            </a:r>
            <a:r>
              <a:rPr lang="en-US" dirty="0"/>
              <a:t> </a:t>
            </a:r>
            <a:r>
              <a:rPr lang="en-US" dirty="0" err="1"/>
              <a:t>lärdom</a:t>
            </a:r>
            <a:r>
              <a:rPr lang="en-US" dirty="0"/>
              <a:t> </a:t>
            </a:r>
            <a:r>
              <a:rPr lang="en-US" dirty="0" err="1"/>
              <a:t>stötte</a:t>
            </a:r>
            <a:r>
              <a:rPr lang="en-US" dirty="0"/>
              <a:t> jag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när</a:t>
            </a:r>
            <a:r>
              <a:rPr lang="en-US" dirty="0"/>
              <a:t> jag </a:t>
            </a:r>
            <a:r>
              <a:rPr lang="en-US" dirty="0" err="1"/>
              <a:t>byggde</a:t>
            </a:r>
            <a:r>
              <a:rPr lang="en-US" dirty="0"/>
              <a:t> </a:t>
            </a:r>
            <a:r>
              <a:rPr lang="en-US" dirty="0" err="1"/>
              <a:t>funktionen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laddar</a:t>
            </a:r>
            <a:r>
              <a:rPr lang="en-US" dirty="0"/>
              <a:t> in </a:t>
            </a:r>
            <a:r>
              <a:rPr lang="en-US" dirty="0" err="1"/>
              <a:t>modellen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appen</a:t>
            </a:r>
            <a:r>
              <a:rPr lang="en-US" dirty="0"/>
              <a:t> var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sparad</a:t>
            </a:r>
            <a:r>
              <a:rPr lang="en-US" dirty="0"/>
              <a:t> PyTorch-</a:t>
            </a:r>
            <a:r>
              <a:rPr lang="en-US" dirty="0" err="1"/>
              <a:t>modell</a:t>
            </a:r>
            <a:r>
              <a:rPr lang="en-US" dirty="0"/>
              <a:t> </a:t>
            </a:r>
            <a:r>
              <a:rPr lang="en-US" dirty="0" err="1"/>
              <a:t>sparar</a:t>
            </a:r>
            <a:r>
              <a:rPr lang="en-US" dirty="0"/>
              <a:t> bara </a:t>
            </a:r>
            <a:r>
              <a:rPr lang="en-US" dirty="0" err="1"/>
              <a:t>vikterna</a:t>
            </a:r>
            <a:r>
              <a:rPr lang="en-US" dirty="0"/>
              <a:t>, </a:t>
            </a:r>
            <a:r>
              <a:rPr lang="en-US" dirty="0" err="1"/>
              <a:t>inte</a:t>
            </a:r>
            <a:r>
              <a:rPr lang="en-US" dirty="0"/>
              <a:t> </a:t>
            </a:r>
            <a:r>
              <a:rPr lang="en-US" dirty="0" err="1"/>
              <a:t>hela</a:t>
            </a:r>
            <a:r>
              <a:rPr lang="en-US" dirty="0"/>
              <a:t> </a:t>
            </a:r>
            <a:r>
              <a:rPr lang="en-US" dirty="0" err="1"/>
              <a:t>arkitekturen</a:t>
            </a:r>
            <a:r>
              <a:rPr lang="en-US" dirty="0"/>
              <a:t>.</a:t>
            </a:r>
          </a:p>
          <a:p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själva</a:t>
            </a:r>
            <a:r>
              <a:rPr lang="en-US" dirty="0"/>
              <a:t> </a:t>
            </a:r>
            <a:r>
              <a:rPr lang="en-US" dirty="0" err="1"/>
              <a:t>nätverksstrukturen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behövde</a:t>
            </a:r>
            <a:r>
              <a:rPr lang="en-US" dirty="0"/>
              <a:t> </a:t>
            </a:r>
            <a:r>
              <a:rPr lang="en-US" dirty="0" err="1"/>
              <a:t>återskapas</a:t>
            </a:r>
            <a:r>
              <a:rPr lang="en-US" dirty="0"/>
              <a:t> </a:t>
            </a:r>
            <a:r>
              <a:rPr lang="en-US" dirty="0" err="1"/>
              <a:t>innan</a:t>
            </a:r>
            <a:r>
              <a:rPr lang="en-US" dirty="0"/>
              <a:t> </a:t>
            </a:r>
            <a:r>
              <a:rPr lang="en-US" dirty="0" err="1"/>
              <a:t>vikterna</a:t>
            </a:r>
            <a:r>
              <a:rPr lang="en-US" dirty="0"/>
              <a:t> </a:t>
            </a:r>
            <a:r>
              <a:rPr lang="en-US" dirty="0" err="1"/>
              <a:t>kunde</a:t>
            </a:r>
            <a:r>
              <a:rPr lang="en-US" dirty="0"/>
              <a:t> </a:t>
            </a:r>
            <a:r>
              <a:rPr lang="en-US" dirty="0" err="1"/>
              <a:t>laddas</a:t>
            </a:r>
            <a:r>
              <a:rPr lang="en-US" dirty="0"/>
              <a:t>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681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96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54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95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5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1FE1A989-42EF-40B2-87AB-6941C231CD4A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067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8095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484632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279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0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8A60B404-9532-4DA8-8A40-EC339A5BE635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2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65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711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6122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8FACD271-2BB0-4C13-9E3A-50B90F57CA5B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4109C0-CC82-467C-B6E8-62D4D3634E2A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1A5F77D0-C28E-4573-88F0-0A30FF98888E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F1191D-5EC4-40DF-9DB6-A6385AB88B55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1D22668-A3AE-429F-A351-A1583BA90793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159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6C70014-48FC-4647-9615-BBD39F98887D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820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C089F4EF-3CDF-46D7-ADF4-3A52C84FD8BE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826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635C43F-DBB1-4D83-B442-E1529AA900C2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5332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8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9128053F-E531-4885-B604-CF1A6DEEE405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01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496" y="566928"/>
            <a:ext cx="10826496" cy="4334256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" y="4718304"/>
            <a:ext cx="5897880" cy="1353312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468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760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96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83138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4972" y="5428752"/>
            <a:ext cx="9043508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56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5064" y="5349240"/>
            <a:ext cx="9043416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7CA6-BC1D-429A-A289-4E939E49554A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24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234440"/>
            <a:ext cx="8961120" cy="316992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4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651" y="5669280"/>
            <a:ext cx="8807117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02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5B10-D26A-480A-9509-A9831C5E60D8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5040-F7E0-40EC-B8E9-CED28200FAA3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987AA-E4E6-4FC1-BAD8-09A952212C58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CF65F-0E21-48DE-8D75-4BF66A547E8E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5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547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D291CE83-67BA-4B15-B48A-7DC5C0636664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5" r:id="rId2"/>
    <p:sldLayoutId id="2147483661" r:id="rId3"/>
    <p:sldLayoutId id="2147483712" r:id="rId4"/>
    <p:sldLayoutId id="2147483698" r:id="rId5"/>
    <p:sldLayoutId id="2147483728" r:id="rId6"/>
    <p:sldLayoutId id="2147483735" r:id="rId7"/>
    <p:sldLayoutId id="2147483758" r:id="rId8"/>
    <p:sldLayoutId id="2147483710" r:id="rId9"/>
    <p:sldLayoutId id="2147483755" r:id="rId10"/>
    <p:sldLayoutId id="2147483713" r:id="rId11"/>
    <p:sldLayoutId id="2147483729" r:id="rId12"/>
    <p:sldLayoutId id="2147483662" r:id="rId13"/>
    <p:sldLayoutId id="2147483679" r:id="rId14"/>
    <p:sldLayoutId id="2147483680" r:id="rId15"/>
    <p:sldLayoutId id="2147483681" r:id="rId16"/>
    <p:sldLayoutId id="2147483682" r:id="rId17"/>
    <p:sldLayoutId id="2147483706" r:id="rId18"/>
    <p:sldLayoutId id="2147483689" r:id="rId19"/>
    <p:sldLayoutId id="2147483690" r:id="rId20"/>
    <p:sldLayoutId id="2147483707" r:id="rId21"/>
    <p:sldLayoutId id="2147483708" r:id="rId22"/>
    <p:sldLayoutId id="2147483692" r:id="rId23"/>
    <p:sldLayoutId id="2147483691" r:id="rId24"/>
    <p:sldLayoutId id="2147483732" r:id="rId25"/>
    <p:sldLayoutId id="2147483733" r:id="rId26"/>
    <p:sldLayoutId id="2147483731" r:id="rId27"/>
    <p:sldLayoutId id="2147483730" r:id="rId28"/>
    <p:sldLayoutId id="2147483694" r:id="rId29"/>
    <p:sldLayoutId id="2147483726" r:id="rId30"/>
    <p:sldLayoutId id="2147483693" r:id="rId31"/>
    <p:sldLayoutId id="2147483711" r:id="rId32"/>
    <p:sldLayoutId id="2147483672" r:id="rId33"/>
    <p:sldLayoutId id="2147483673" r:id="rId34"/>
    <p:sldLayoutId id="2147483696" r:id="rId35"/>
    <p:sldLayoutId id="2147483752" r:id="rId36"/>
    <p:sldLayoutId id="2147483754" r:id="rId37"/>
    <p:sldLayoutId id="2147483753" r:id="rId38"/>
    <p:sldLayoutId id="2147483750" r:id="rId39"/>
    <p:sldLayoutId id="2147483742" r:id="rId40"/>
    <p:sldLayoutId id="2147483743" r:id="rId41"/>
    <p:sldLayoutId id="2147483740" r:id="rId42"/>
    <p:sldLayoutId id="2147483664" r:id="rId43"/>
    <p:sldLayoutId id="2147483665" r:id="rId44"/>
    <p:sldLayoutId id="2147483666" r:id="rId45"/>
    <p:sldLayoutId id="2147483667" r:id="rId46"/>
    <p:sldLayoutId id="2147483668" r:id="rId47"/>
    <p:sldLayoutId id="2147483669" r:id="rId48"/>
    <p:sldLayoutId id="2147483685" r:id="rId49"/>
    <p:sldLayoutId id="2147483687" r:id="rId50"/>
    <p:sldLayoutId id="2147483759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D321A2-65AC-4C18-CA75-0FB5084CA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>
            <a:normAutofit fontScale="90000"/>
          </a:bodyPr>
          <a:lstStyle/>
          <a:p>
            <a:pPr algn="ctr"/>
            <a:r>
              <a:rPr lang="sv-SE" sz="4800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Från notebook till produkt</a:t>
            </a:r>
            <a:br>
              <a:rPr lang="sv-SE" sz="4800" noProof="0" dirty="0"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br>
              <a:rPr lang="sv-SE" sz="4800" noProof="0" dirty="0"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sv-SE" sz="28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skogsbrand-klassificerare byggd med ResNet18 och Streamlit</a:t>
            </a:r>
            <a:br>
              <a:rPr lang="sv-SE" sz="4800" noProof="0" dirty="0"/>
            </a:br>
            <a:endParaRPr lang="sv-SE" sz="4800" noProof="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FA3257-663D-61CE-A5D5-22B53DB71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>
            <a:normAutofit/>
          </a:bodyPr>
          <a:lstStyle/>
          <a:p>
            <a:r>
              <a:rPr lang="sv-SE" sz="1400" noProof="0" dirty="0"/>
              <a:t>Malin Moisander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A6BCCFE-82B9-38D9-8EAD-75148B80BD8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96128" y="0"/>
            <a:ext cx="6595872" cy="6858000"/>
          </a:xfrm>
        </p:spPr>
      </p:pic>
    </p:spTree>
    <p:extLst>
      <p:ext uri="{BB962C8B-B14F-4D97-AF65-F5344CB8AC3E}">
        <p14:creationId xmlns:p14="http://schemas.microsoft.com/office/powerpoint/2010/main" val="306996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0C5EE-4407-7D34-76B2-22AA02F00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862C1-F513-8DB6-4093-D494B0ECB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599025"/>
          </a:xfrm>
        </p:spPr>
        <p:txBody>
          <a:bodyPr/>
          <a:lstStyle/>
          <a:p>
            <a:r>
              <a:rPr lang="sv-SE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Vad fördjupade jag mig i, och varför?</a:t>
            </a:r>
            <a:endParaRPr lang="sv-SE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831C560E-05CB-0582-AD27-57873C63BB22}"/>
              </a:ext>
            </a:extLst>
          </p:cNvPr>
          <p:cNvSpPr/>
          <p:nvPr/>
        </p:nvSpPr>
        <p:spPr>
          <a:xfrm>
            <a:off x="640080" y="1740165"/>
            <a:ext cx="548640" cy="548640"/>
          </a:xfrm>
          <a:prstGeom prst="ellipse">
            <a:avLst/>
          </a:prstGeom>
          <a:solidFill>
            <a:srgbClr val="3F5B44"/>
          </a:solidFill>
          <a:ln/>
        </p:spPr>
        <p:txBody>
          <a:bodyPr/>
          <a:lstStyle/>
          <a:p>
            <a:endParaRPr lang="sv-SE" noProof="0" dirty="0"/>
          </a:p>
        </p:txBody>
      </p:sp>
      <p:pic>
        <p:nvPicPr>
          <p:cNvPr id="8" name="Image 0" descr="/tmp/claude-0/-home-claude/7a60a002-8702-51bc-9057-632021113fe7/scratchpad/deck/icon_satellite_FFFFFF.png">
            <a:extLst>
              <a:ext uri="{FF2B5EF4-FFF2-40B4-BE49-F238E27FC236}">
                <a16:creationId xmlns:a16="http://schemas.microsoft.com/office/drawing/2014/main" id="{E189B826-EF84-13B2-F800-DA7C17DB7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863609"/>
            <a:ext cx="301752" cy="301752"/>
          </a:xfrm>
          <a:prstGeom prst="rect">
            <a:avLst/>
          </a:prstGeom>
        </p:spPr>
      </p:pic>
      <p:sp>
        <p:nvSpPr>
          <p:cNvPr id="10" name="Shape 4">
            <a:extLst>
              <a:ext uri="{FF2B5EF4-FFF2-40B4-BE49-F238E27FC236}">
                <a16:creationId xmlns:a16="http://schemas.microsoft.com/office/drawing/2014/main" id="{31875D74-A564-D8AB-1CAB-972EEB7A78C5}"/>
              </a:ext>
            </a:extLst>
          </p:cNvPr>
          <p:cNvSpPr/>
          <p:nvPr/>
        </p:nvSpPr>
        <p:spPr>
          <a:xfrm>
            <a:off x="6587410" y="1740165"/>
            <a:ext cx="548640" cy="548640"/>
          </a:xfrm>
          <a:prstGeom prst="ellipse">
            <a:avLst/>
          </a:prstGeom>
          <a:solidFill>
            <a:srgbClr val="E8853A"/>
          </a:solidFill>
          <a:ln/>
        </p:spPr>
        <p:txBody>
          <a:bodyPr/>
          <a:lstStyle/>
          <a:p>
            <a:endParaRPr lang="sv-SE" noProof="0" dirty="0"/>
          </a:p>
        </p:txBody>
      </p:sp>
      <p:pic>
        <p:nvPicPr>
          <p:cNvPr id="12" name="Image 1" descr="/tmp/claude-0/-home-claude/7a60a002-8702-51bc-9057-632021113fe7/scratchpad/deck/icon_target_FFFFFF.png">
            <a:extLst>
              <a:ext uri="{FF2B5EF4-FFF2-40B4-BE49-F238E27FC236}">
                <a16:creationId xmlns:a16="http://schemas.microsoft.com/office/drawing/2014/main" id="{3BE218F1-70D6-B631-F8BE-55905D5E3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854" y="1863609"/>
            <a:ext cx="301752" cy="301752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D1FC875B-84FB-682E-64E5-190FFFE406CE}"/>
              </a:ext>
            </a:extLst>
          </p:cNvPr>
          <p:cNvSpPr/>
          <p:nvPr/>
        </p:nvSpPr>
        <p:spPr>
          <a:xfrm>
            <a:off x="5467733" y="2479812"/>
            <a:ext cx="709126" cy="205932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noProof="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F1C9187-D9E6-5CEE-8035-5C14E36018FD}"/>
              </a:ext>
            </a:extLst>
          </p:cNvPr>
          <p:cNvSpPr/>
          <p:nvPr/>
        </p:nvSpPr>
        <p:spPr>
          <a:xfrm>
            <a:off x="5467733" y="3100389"/>
            <a:ext cx="709126" cy="205932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noProof="0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C6874885-300C-98FF-8EFF-EA22B4E2EDB0}"/>
              </a:ext>
            </a:extLst>
          </p:cNvPr>
          <p:cNvSpPr/>
          <p:nvPr/>
        </p:nvSpPr>
        <p:spPr>
          <a:xfrm>
            <a:off x="5467733" y="3720966"/>
            <a:ext cx="709126" cy="205932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63C4AF-DA1B-ACF5-63F4-6E4D3CF853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2346712"/>
              </p:ext>
            </p:extLst>
          </p:nvPr>
        </p:nvGraphicFramePr>
        <p:xfrm>
          <a:off x="612775" y="1716088"/>
          <a:ext cx="10607040" cy="2468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6343">
                  <a:extLst>
                    <a:ext uri="{9D8B030D-6E8A-4147-A177-3AD203B41FA5}">
                      <a16:colId xmlns:a16="http://schemas.microsoft.com/office/drawing/2014/main" val="3540126805"/>
                    </a:ext>
                  </a:extLst>
                </a:gridCol>
                <a:gridCol w="1231641">
                  <a:extLst>
                    <a:ext uri="{9D8B030D-6E8A-4147-A177-3AD203B41FA5}">
                      <a16:colId xmlns:a16="http://schemas.microsoft.com/office/drawing/2014/main" val="323638970"/>
                    </a:ext>
                  </a:extLst>
                </a:gridCol>
                <a:gridCol w="4679056">
                  <a:extLst>
                    <a:ext uri="{9D8B030D-6E8A-4147-A177-3AD203B41FA5}">
                      <a16:colId xmlns:a16="http://schemas.microsoft.com/office/drawing/2014/main" val="39374681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lang="sv-SE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            </a:t>
                      </a:r>
                      <a:r>
                        <a:rPr lang="sv-SE" b="1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VAD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sv-SE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noProof="0" dirty="0"/>
                        <a:t>             </a:t>
                      </a:r>
                      <a:r>
                        <a:rPr lang="sv-SE" b="1" noProof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VARFÖR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46576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PyTorch istället för TensorFlow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sv-SE" noProof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sv-SE" sz="1800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Två dominerande ramverk i branschen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239459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lang="sv-SE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Förtränad modell ResNet18 med transfer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sv-SE" noProof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Transfer learning är vanligare än att träna från grunden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960579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lang="sv-SE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Streamlit-app som demo för användare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sv-SE" noProof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Göra modellen tillgänglig för icke-tekniska användare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051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2357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3600" b="1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viktigaste tekniska begreppen</a:t>
            </a:r>
            <a:endParaRPr lang="sv-SE" sz="3600" noProof="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393785" y="1600200"/>
            <a:ext cx="3520440" cy="4147458"/>
          </a:xfrm>
          <a:prstGeom prst="roundRect">
            <a:avLst>
              <a:gd name="adj" fmla="val 3117"/>
            </a:avLst>
          </a:prstGeom>
          <a:solidFill>
            <a:srgbClr val="EDF1EC"/>
          </a:solidFill>
          <a:ln/>
          <a:effectLst>
            <a:outerShdw blurRad="76200" dist="25400" dir="5400000" algn="bl" rotWithShape="0">
              <a:srgbClr val="1F2D22">
                <a:alpha val="12000"/>
              </a:srgbClr>
            </a:outerShdw>
          </a:effectLst>
        </p:spPr>
        <p:txBody>
          <a:bodyPr/>
          <a:lstStyle/>
          <a:p>
            <a:endParaRPr lang="sv-SE" noProof="0" dirty="0"/>
          </a:p>
        </p:txBody>
      </p:sp>
      <p:sp>
        <p:nvSpPr>
          <p:cNvPr id="4" name="Shape 2"/>
          <p:cNvSpPr/>
          <p:nvPr/>
        </p:nvSpPr>
        <p:spPr>
          <a:xfrm>
            <a:off x="4713825" y="1920240"/>
            <a:ext cx="685800" cy="685800"/>
          </a:xfrm>
          <a:prstGeom prst="ellipse">
            <a:avLst/>
          </a:prstGeom>
          <a:solidFill>
            <a:srgbClr val="E8853A"/>
          </a:solidFill>
          <a:ln/>
        </p:spPr>
        <p:txBody>
          <a:bodyPr/>
          <a:lstStyle/>
          <a:p>
            <a:endParaRPr lang="sv-SE" noProof="0" dirty="0"/>
          </a:p>
        </p:txBody>
      </p:sp>
      <p:pic>
        <p:nvPicPr>
          <p:cNvPr id="5" name="Image 0" descr="/tmp/claude-0/-home-claude/7a60a002-8702-51bc-9057-632021113fe7/scratchpad/deck/icon_lay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130" y="2074545"/>
            <a:ext cx="377190" cy="3771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668105" y="2834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v-SE" sz="2400" b="1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 learning</a:t>
            </a:r>
            <a:endParaRPr lang="sv-SE" sz="2400" noProof="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668105" y="347472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sv-SE" sz="16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Backbonen</a:t>
            </a:r>
            <a:r>
              <a:rPr lang="sv-SE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fryses, bara klassificeringshuvudet tränas.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sv-SE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Återanvänder mönster ResNet18 redan lärt sig från </a:t>
            </a:r>
            <a:r>
              <a:rPr lang="sv-SE" sz="16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</a:t>
            </a:r>
            <a:r>
              <a:rPr lang="sv-SE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sv-SE" sz="1600" noProof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466530" y="1600200"/>
            <a:ext cx="3520440" cy="4147457"/>
          </a:xfrm>
          <a:prstGeom prst="roundRect">
            <a:avLst>
              <a:gd name="adj" fmla="val 3117"/>
            </a:avLst>
          </a:prstGeom>
          <a:solidFill>
            <a:srgbClr val="EDF1EC"/>
          </a:solidFill>
          <a:ln/>
          <a:effectLst>
            <a:outerShdw blurRad="76200" dist="25400" dir="5400000" algn="bl" rotWithShape="0">
              <a:srgbClr val="1F2D22">
                <a:alpha val="12000"/>
              </a:srgbClr>
            </a:outerShdw>
          </a:effectLst>
        </p:spPr>
        <p:txBody>
          <a:bodyPr/>
          <a:lstStyle/>
          <a:p>
            <a:endParaRPr lang="sv-SE" noProof="0" dirty="0"/>
          </a:p>
        </p:txBody>
      </p:sp>
      <p:sp>
        <p:nvSpPr>
          <p:cNvPr id="9" name="Shape 6"/>
          <p:cNvSpPr/>
          <p:nvPr/>
        </p:nvSpPr>
        <p:spPr>
          <a:xfrm>
            <a:off x="786570" y="1920240"/>
            <a:ext cx="685800" cy="685800"/>
          </a:xfrm>
          <a:prstGeom prst="ellipse">
            <a:avLst/>
          </a:prstGeom>
          <a:solidFill>
            <a:srgbClr val="E8853A"/>
          </a:solidFill>
          <a:ln/>
        </p:spPr>
        <p:txBody>
          <a:bodyPr/>
          <a:lstStyle/>
          <a:p>
            <a:endParaRPr lang="sv-SE" noProof="0" dirty="0"/>
          </a:p>
        </p:txBody>
      </p:sp>
      <p:pic>
        <p:nvPicPr>
          <p:cNvPr id="10" name="Image 1" descr="/tmp/claude-0/-home-claude/7a60a002-8702-51bc-9057-632021113fe7/scratchpad/deck/icon_fir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868" y="2074545"/>
            <a:ext cx="377190" cy="3771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850" y="2834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sv-SE" sz="2400" b="1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PyTorch vs TensorFlow</a:t>
            </a:r>
          </a:p>
        </p:txBody>
      </p:sp>
      <p:sp>
        <p:nvSpPr>
          <p:cNvPr id="12" name="Text 8"/>
          <p:cNvSpPr txBox="1"/>
          <p:nvPr/>
        </p:nvSpPr>
        <p:spPr>
          <a:xfrm>
            <a:off x="740850" y="347472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  <a:defRPr/>
            </a:pPr>
            <a:r>
              <a:rPr lang="sv-SE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</a:t>
            </a:r>
            <a:r>
              <a:rPr lang="sv-SE" sz="16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</a:t>
            </a:r>
            <a:r>
              <a:rPr lang="sv-SE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 inbyggd </a:t>
            </a:r>
            <a:r>
              <a:rPr lang="sv-SE" sz="16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r>
              <a:rPr lang="sv-SE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medan TensorFlow ofta kräver ett separat </a:t>
            </a:r>
            <a:r>
              <a:rPr lang="sv-SE" sz="16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r>
              <a:rPr lang="sv-SE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-lager.</a:t>
            </a:r>
          </a:p>
        </p:txBody>
      </p:sp>
      <p:sp>
        <p:nvSpPr>
          <p:cNvPr id="13" name="Shape 9"/>
          <p:cNvSpPr/>
          <p:nvPr/>
        </p:nvSpPr>
        <p:spPr>
          <a:xfrm>
            <a:off x="8321040" y="1600200"/>
            <a:ext cx="3520440" cy="4147457"/>
          </a:xfrm>
          <a:prstGeom prst="roundRect">
            <a:avLst>
              <a:gd name="adj" fmla="val 3117"/>
            </a:avLst>
          </a:prstGeom>
          <a:solidFill>
            <a:srgbClr val="EDF1EC"/>
          </a:solidFill>
          <a:ln/>
          <a:effectLst>
            <a:outerShdw blurRad="76200" dist="25400" dir="5400000" algn="bl" rotWithShape="0">
              <a:srgbClr val="1F2D22">
                <a:alpha val="12000"/>
              </a:srgbClr>
            </a:outerShdw>
          </a:effectLst>
        </p:spPr>
        <p:txBody>
          <a:bodyPr/>
          <a:lstStyle/>
          <a:p>
            <a:endParaRPr lang="sv-SE" noProof="0" dirty="0"/>
          </a:p>
        </p:txBody>
      </p:sp>
      <p:sp>
        <p:nvSpPr>
          <p:cNvPr id="14" name="Shape 10"/>
          <p:cNvSpPr/>
          <p:nvPr/>
        </p:nvSpPr>
        <p:spPr>
          <a:xfrm>
            <a:off x="8641080" y="1920240"/>
            <a:ext cx="685800" cy="685800"/>
          </a:xfrm>
          <a:prstGeom prst="ellipse">
            <a:avLst/>
          </a:prstGeom>
          <a:solidFill>
            <a:srgbClr val="E8853A"/>
          </a:solidFill>
          <a:ln/>
        </p:spPr>
        <p:txBody>
          <a:bodyPr/>
          <a:lstStyle/>
          <a:p>
            <a:endParaRPr lang="sv-SE" noProof="0" dirty="0"/>
          </a:p>
        </p:txBody>
      </p:sp>
      <p:sp>
        <p:nvSpPr>
          <p:cNvPr id="16" name="Text 11"/>
          <p:cNvSpPr txBox="1"/>
          <p:nvPr/>
        </p:nvSpPr>
        <p:spPr>
          <a:xfrm>
            <a:off x="8595360" y="2834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defRPr/>
            </a:pPr>
            <a:r>
              <a:rPr lang="sv-SE" sz="2400" b="1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 — cache</a:t>
            </a:r>
            <a:endParaRPr kumimoji="0" lang="sv-SE" sz="2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595360" y="347472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  <a:defRPr/>
            </a:pPr>
            <a:r>
              <a:rPr lang="sv-SE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 scriptet körs om vid varje interaktion i appen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  <a:defRPr/>
            </a:pPr>
            <a:r>
              <a:rPr lang="sv-SE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@st.cache_resource gör att modellen bara laddas en gång — inte på nytt vid varje bilduppladdning</a:t>
            </a:r>
          </a:p>
        </p:txBody>
      </p:sp>
      <p:pic>
        <p:nvPicPr>
          <p:cNvPr id="19" name="Graphic 18" descr="Refresh with solid fill">
            <a:extLst>
              <a:ext uri="{FF2B5EF4-FFF2-40B4-BE49-F238E27FC236}">
                <a16:creationId xmlns:a16="http://schemas.microsoft.com/office/drawing/2014/main" id="{EA1137F5-E036-4394-336D-27C1F0DADE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71356" y="2020547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234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3600" b="1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Från dataset till app</a:t>
            </a:r>
            <a:endParaRPr lang="sv-SE" sz="3600" noProof="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3F5B44"/>
          </a:solidFill>
          <a:ln/>
        </p:spPr>
        <p:txBody>
          <a:bodyPr/>
          <a:lstStyle/>
          <a:p>
            <a:endParaRPr lang="sv-SE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v-SE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sv-SE" sz="2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1325878" y="1709928"/>
            <a:ext cx="106546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28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r>
              <a:rPr lang="sv-SE" sz="28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-dataset med satellitbilder via </a:t>
            </a:r>
            <a:r>
              <a:rPr lang="sv-SE" sz="28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kagglehub</a:t>
            </a:r>
            <a:r>
              <a:rPr lang="sv-SE" sz="28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(redan </a:t>
            </a:r>
            <a:r>
              <a:rPr lang="sv-SE" sz="28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r>
              <a:rPr lang="sv-SE" sz="28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valid / test)</a:t>
            </a:r>
            <a:endParaRPr lang="sv-SE" sz="2800" noProof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3F5B44"/>
          </a:solidFill>
          <a:ln/>
        </p:spPr>
        <p:txBody>
          <a:bodyPr/>
          <a:lstStyle/>
          <a:p>
            <a:endParaRPr lang="sv-SE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v-SE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sv-SE" sz="20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1325879" y="2578608"/>
            <a:ext cx="8499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28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— fryst </a:t>
            </a:r>
            <a:r>
              <a:rPr lang="sv-SE" sz="28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r>
              <a:rPr lang="sv-SE" sz="28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eget klassificeringshuvud</a:t>
            </a:r>
            <a:endParaRPr lang="sv-SE" sz="2800" noProof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3F5B44"/>
          </a:solidFill>
          <a:ln/>
        </p:spPr>
        <p:txBody>
          <a:bodyPr/>
          <a:lstStyle/>
          <a:p>
            <a:endParaRPr lang="sv-SE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v-SE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sv-SE" sz="2000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4728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28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Träning och utvärdering</a:t>
            </a:r>
            <a:endParaRPr lang="sv-SE" sz="2800" noProof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E8853A"/>
          </a:solidFill>
          <a:ln/>
        </p:spPr>
        <p:txBody>
          <a:bodyPr/>
          <a:lstStyle/>
          <a:p>
            <a:endParaRPr lang="sv-SE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v-SE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sv-SE" sz="20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315968"/>
            <a:ext cx="74542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28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Streamlit-app (app.py) för live-prediktion</a:t>
            </a:r>
            <a:endParaRPr lang="sv-SE" sz="2800" noProof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523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F9EC9-2F3A-BCFD-6B19-3101E319D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559834"/>
          </a:xfrm>
        </p:spPr>
        <p:txBody>
          <a:bodyPr>
            <a:normAutofit fontScale="90000"/>
          </a:bodyPr>
          <a:lstStyle/>
          <a:p>
            <a:r>
              <a:rPr lang="sv-S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Resultat</a:t>
            </a:r>
            <a:br>
              <a:rPr lang="sv-S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7EBE5-3D81-2667-EBCD-E741710F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144559"/>
            <a:ext cx="5157787" cy="559834"/>
          </a:xfrm>
        </p:spPr>
        <p:txBody>
          <a:bodyPr/>
          <a:lstStyle/>
          <a:p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Tränad </a:t>
            </a:r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96D8A-ED4D-B16A-584B-4BE2E41EF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741722"/>
            <a:ext cx="5157788" cy="55983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sv-SE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</a:t>
            </a:r>
            <a:r>
              <a:rPr lang="sv-SE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sv-SE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på testdata (3900 bilder)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5246E1-F3EE-FC95-8751-F88C08B3D2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44559"/>
            <a:ext cx="5183188" cy="559834"/>
          </a:xfrm>
        </p:spPr>
        <p:txBody>
          <a:bodyPr/>
          <a:lstStyle/>
          <a:p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Streamlit-app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 0" descr="/tmp/claude-0/-home-claude/7a60a002-8702-51bc-9057-632021113fe7/scratchpad/report_media/extracted/word/media/image2.png">
            <a:extLst>
              <a:ext uri="{FF2B5EF4-FFF2-40B4-BE49-F238E27FC236}">
                <a16:creationId xmlns:a16="http://schemas.microsoft.com/office/drawing/2014/main" id="{DFC13602-0986-E167-2487-CBD2AE237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67" y="2338885"/>
            <a:ext cx="4554271" cy="4235472"/>
          </a:xfrm>
          <a:prstGeom prst="rect">
            <a:avLst/>
          </a:prstGeom>
          <a:effectLst>
            <a:outerShdw blurRad="101600" dist="38100" dir="5400000" algn="bl" rotWithShape="0">
              <a:srgbClr val="1F2D22">
                <a:alpha val="15000"/>
              </a:srgbClr>
            </a:outerShdw>
          </a:effectLst>
        </p:spPr>
      </p:pic>
      <p:pic>
        <p:nvPicPr>
          <p:cNvPr id="12" name="Image 0" descr="/root/.claude/uploads/7a60a002-8702-51bc-9057-632021113fe7/a0ba18db-image.png">
            <a:extLst>
              <a:ext uri="{FF2B5EF4-FFF2-40B4-BE49-F238E27FC236}">
                <a16:creationId xmlns:a16="http://schemas.microsoft.com/office/drawing/2014/main" id="{32A82F59-C429-F02B-521A-882F48DA8C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82494" y="1781521"/>
            <a:ext cx="5845677" cy="4529083"/>
          </a:xfrm>
          <a:prstGeom prst="rect">
            <a:avLst/>
          </a:prstGeom>
          <a:effectLst>
            <a:outerShdw blurRad="101600" dist="38100" dir="5400000" algn="bl" rotWithShape="0">
              <a:srgbClr val="1F2D22">
                <a:alpha val="1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5154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0B13C-46DA-D4E9-4A68-6AB0AC2F6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6CCE6-61AB-FFB9-A95F-D2FC7B3E4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559834"/>
          </a:xfrm>
        </p:spPr>
        <p:txBody>
          <a:bodyPr>
            <a:normAutofit fontScale="90000"/>
          </a:bodyPr>
          <a:lstStyle/>
          <a:p>
            <a:r>
              <a:rPr lang="sv-S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Viktiga delar</a:t>
            </a:r>
            <a:br>
              <a:rPr lang="sv-S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ED44-3824-C189-6B15-BC71EF5AA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144559"/>
            <a:ext cx="5157787" cy="559834"/>
          </a:xfrm>
        </p:spPr>
        <p:txBody>
          <a:bodyPr/>
          <a:lstStyle/>
          <a:p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Tränad </a:t>
            </a:r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2002C-07B8-1D39-0288-B67DE430A5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39338" y="1144559"/>
            <a:ext cx="4516049" cy="559834"/>
          </a:xfrm>
        </p:spPr>
        <p:txBody>
          <a:bodyPr/>
          <a:lstStyle/>
          <a:p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Streamlit-app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FBE1704-9892-ADFE-8645-290873795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763" y="2696857"/>
            <a:ext cx="5212392" cy="2164014"/>
          </a:xfrm>
          <a:prstGeom prst="rect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</p:pic>
      <p:sp>
        <p:nvSpPr>
          <p:cNvPr id="19" name="Text 3">
            <a:extLst>
              <a:ext uri="{FF2B5EF4-FFF2-40B4-BE49-F238E27FC236}">
                <a16:creationId xmlns:a16="http://schemas.microsoft.com/office/drawing/2014/main" id="{2CF80115-1331-6085-6596-CE809AAAC969}"/>
              </a:ext>
            </a:extLst>
          </p:cNvPr>
          <p:cNvSpPr txBox="1"/>
          <p:nvPr/>
        </p:nvSpPr>
        <p:spPr>
          <a:xfrm>
            <a:off x="6839338" y="1881985"/>
            <a:ext cx="4889242" cy="721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b="1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Rätt filformat men ingen riktig bild → tydligt felmeddelande, ingen krasch (try / </a:t>
            </a:r>
            <a:r>
              <a:rPr lang="sv-SE" b="1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</a:t>
            </a:r>
            <a:r>
              <a:rPr lang="sv-SE" b="1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sv-SE" noProof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5BC118-B78C-A54A-5070-8D14609AC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20" y="1881985"/>
            <a:ext cx="5966562" cy="369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021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5EEDE-BDF1-DE42-9915-365DB4DC8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85C7-1225-966F-C2E4-7BBA03436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599025"/>
          </a:xfrm>
        </p:spPr>
        <p:txBody>
          <a:bodyPr/>
          <a:lstStyle/>
          <a:p>
            <a:r>
              <a:rPr lang="sv-SE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Lärdomar och begränsningar</a:t>
            </a:r>
            <a:endParaRPr lang="sv-SE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0FCFEC-AC97-FA77-D076-6922051F4C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6787622"/>
              </p:ext>
            </p:extLst>
          </p:nvPr>
        </p:nvGraphicFramePr>
        <p:xfrm>
          <a:off x="612775" y="1716088"/>
          <a:ext cx="10607040" cy="2468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6343">
                  <a:extLst>
                    <a:ext uri="{9D8B030D-6E8A-4147-A177-3AD203B41FA5}">
                      <a16:colId xmlns:a16="http://schemas.microsoft.com/office/drawing/2014/main" val="3540126805"/>
                    </a:ext>
                  </a:extLst>
                </a:gridCol>
                <a:gridCol w="1231641">
                  <a:extLst>
                    <a:ext uri="{9D8B030D-6E8A-4147-A177-3AD203B41FA5}">
                      <a16:colId xmlns:a16="http://schemas.microsoft.com/office/drawing/2014/main" val="323638970"/>
                    </a:ext>
                  </a:extLst>
                </a:gridCol>
                <a:gridCol w="4679056">
                  <a:extLst>
                    <a:ext uri="{9D8B030D-6E8A-4147-A177-3AD203B41FA5}">
                      <a16:colId xmlns:a16="http://schemas.microsoft.com/office/drawing/2014/main" val="39374681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lang="sv-SE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            </a:t>
                      </a:r>
                      <a:r>
                        <a:rPr lang="sv-SE" b="1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LÄRDOMAR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sv-SE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noProof="0" dirty="0"/>
                        <a:t>             </a:t>
                      </a:r>
                      <a:r>
                        <a:rPr lang="sv-SE" b="1" noProof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BEGRÄNSNINGAR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46576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b="0" noProof="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CrossEntropyLoss</a:t>
                      </a:r>
                      <a:r>
                        <a:rPr lang="sv-SE" sz="1800" b="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i PyTorch har inbyggd </a:t>
                      </a:r>
                      <a:r>
                        <a:rPr lang="sv-SE" sz="1800" b="0" noProof="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softmax</a:t>
                      </a:r>
                      <a:r>
                        <a:rPr lang="sv-SE" sz="1800" b="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— olikt TensorFlow</a:t>
                      </a:r>
                      <a:endParaRPr lang="sv-SE" sz="1800" b="0" noProof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sv-SE" b="0" noProof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1400"/>
                        </a:spcAft>
                        <a:buSzPct val="100000"/>
                        <a:buNone/>
                      </a:pPr>
                      <a:r>
                        <a:rPr lang="sv-SE" sz="1800" b="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Domänspecifik — tränad på ett dataset, en typ av satellitbild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239459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spcAft>
                          <a:spcPts val="1400"/>
                        </a:spcAft>
                        <a:buSzPct val="100000"/>
                        <a:buNone/>
                      </a:pPr>
                      <a:r>
                        <a:rPr lang="sv-SE" sz="1800" b="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En sparad </a:t>
                      </a:r>
                      <a:r>
                        <a:rPr lang="sv-SE" sz="1800" b="0" noProof="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checkpoint</a:t>
                      </a:r>
                      <a:r>
                        <a:rPr lang="sv-SE" sz="1800" b="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är inte en hel modell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sv-SE" b="0" noProof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1400"/>
                        </a:spcAft>
                        <a:buSzPct val="100000"/>
                        <a:buNone/>
                      </a:pPr>
                      <a:r>
                        <a:rPr lang="sv-SE" sz="1800" b="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Ingen konfidensgrad visas i appen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960579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lang="sv-SE" sz="1800" b="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En robust app kräver mer än att modellen bara fungerar</a:t>
                      </a:r>
                      <a:endParaRPr lang="sv-SE" b="0" noProof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sv-SE" b="0" noProof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1400"/>
                        </a:spcAft>
                        <a:buSzPct val="100000"/>
                        <a:buNone/>
                      </a:pPr>
                      <a:r>
                        <a:rPr lang="sv-SE" sz="1800" b="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En bild i taget — inga </a:t>
                      </a:r>
                      <a:r>
                        <a:rPr lang="sv-SE" sz="1800" b="0" noProof="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batcher</a:t>
                      </a:r>
                      <a:endParaRPr lang="sv-SE" sz="1800" b="0" noProof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051002"/>
                  </a:ext>
                </a:extLst>
              </a:tr>
            </a:tbl>
          </a:graphicData>
        </a:graphic>
      </p:graphicFrame>
      <p:sp>
        <p:nvSpPr>
          <p:cNvPr id="13" name="Shape 1">
            <a:extLst>
              <a:ext uri="{FF2B5EF4-FFF2-40B4-BE49-F238E27FC236}">
                <a16:creationId xmlns:a16="http://schemas.microsoft.com/office/drawing/2014/main" id="{A8AA3183-458D-18C3-790C-A6B4FF46E049}"/>
              </a:ext>
            </a:extLst>
          </p:cNvPr>
          <p:cNvSpPr/>
          <p:nvPr/>
        </p:nvSpPr>
        <p:spPr>
          <a:xfrm>
            <a:off x="640080" y="1740165"/>
            <a:ext cx="548640" cy="548640"/>
          </a:xfrm>
          <a:prstGeom prst="ellipse">
            <a:avLst/>
          </a:prstGeom>
          <a:solidFill>
            <a:srgbClr val="3F5B44"/>
          </a:solidFill>
          <a:ln/>
        </p:spPr>
        <p:txBody>
          <a:bodyPr/>
          <a:lstStyle/>
          <a:p>
            <a:endParaRPr lang="sv-SE" noProof="0" dirty="0"/>
          </a:p>
        </p:txBody>
      </p:sp>
      <p:pic>
        <p:nvPicPr>
          <p:cNvPr id="15" name="Image 0" descr="/tmp/claude-0/-home-claude/7a60a002-8702-51bc-9057-632021113fe7/scratchpad/deck/icon_bulb_FFFFFF.png">
            <a:extLst>
              <a:ext uri="{FF2B5EF4-FFF2-40B4-BE49-F238E27FC236}">
                <a16:creationId xmlns:a16="http://schemas.microsoft.com/office/drawing/2014/main" id="{104208FF-EF38-8FBA-E3F1-AADFA9486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863609"/>
            <a:ext cx="301752" cy="301752"/>
          </a:xfrm>
          <a:prstGeom prst="rect">
            <a:avLst/>
          </a:prstGeom>
        </p:spPr>
      </p:pic>
      <p:sp>
        <p:nvSpPr>
          <p:cNvPr id="17" name="Shape 4">
            <a:extLst>
              <a:ext uri="{FF2B5EF4-FFF2-40B4-BE49-F238E27FC236}">
                <a16:creationId xmlns:a16="http://schemas.microsoft.com/office/drawing/2014/main" id="{B34691A4-6087-C4AE-23E7-3EA99945F5D1}"/>
              </a:ext>
            </a:extLst>
          </p:cNvPr>
          <p:cNvSpPr/>
          <p:nvPr/>
        </p:nvSpPr>
        <p:spPr>
          <a:xfrm>
            <a:off x="6559427" y="1740165"/>
            <a:ext cx="548640" cy="548640"/>
          </a:xfrm>
          <a:prstGeom prst="ellipse">
            <a:avLst/>
          </a:prstGeom>
          <a:solidFill>
            <a:srgbClr val="E8853A"/>
          </a:solidFill>
          <a:ln/>
        </p:spPr>
        <p:txBody>
          <a:bodyPr/>
          <a:lstStyle/>
          <a:p>
            <a:endParaRPr lang="sv-SE" noProof="0" dirty="0"/>
          </a:p>
        </p:txBody>
      </p:sp>
      <p:pic>
        <p:nvPicPr>
          <p:cNvPr id="20" name="Image 1" descr="/tmp/claude-0/-home-claude/7a60a002-8702-51bc-9057-632021113fe7/scratchpad/deck/icon_question_FFFFFF.png">
            <a:extLst>
              <a:ext uri="{FF2B5EF4-FFF2-40B4-BE49-F238E27FC236}">
                <a16:creationId xmlns:a16="http://schemas.microsoft.com/office/drawing/2014/main" id="{6E1EEF4A-A508-6442-C54A-469A09452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871" y="1863609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565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731520" y="320040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v-SE" sz="3600" b="1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Tack för mig!</a:t>
            </a:r>
            <a:endParaRPr lang="sv-SE" sz="3600" noProof="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406151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_win32_DN_V3" id="{9F427321-9060-43C1-8B15-4D38A9FA231C}" vid="{F91C65FD-DCCD-4832-9662-5F5E106155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F7CFCFE-9E11-486F-94A1-AD5EF62DEC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15C017-F059-461C-B5CA-F74FA82919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A2E174-8201-44C8-8E86-D532E6482AA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{8B963D26-F839-43FA-A392-B1D786653AF2}9db5ba7a-f6a8-423e-8130-f3099013613b-TF6f351658-02aa-4255-a406-604a46294ca9_win32</Template>
  <TotalTime>309</TotalTime>
  <Words>321</Words>
  <Application>Microsoft Office PowerPoint</Application>
  <PresentationFormat>Widescreen</PresentationFormat>
  <Paragraphs>56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Cambria</vt:lpstr>
      <vt:lpstr>Neue Haas Grotesk Text Pro</vt:lpstr>
      <vt:lpstr>Helena</vt:lpstr>
      <vt:lpstr>Från notebook till produkt  En skogsbrand-klassificerare byggd med ResNet18 och Streamlit </vt:lpstr>
      <vt:lpstr>Vad fördjupade jag mig i, och varför?</vt:lpstr>
      <vt:lpstr>PowerPoint Presentation</vt:lpstr>
      <vt:lpstr>PowerPoint Presentation</vt:lpstr>
      <vt:lpstr>Resultat </vt:lpstr>
      <vt:lpstr>Viktiga delar </vt:lpstr>
      <vt:lpstr>Lärdomar och begränsningar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Malin Moisander</dc:creator>
  <cp:lastModifiedBy>Malin Moisander</cp:lastModifiedBy>
  <cp:revision>7</cp:revision>
  <dcterms:created xsi:type="dcterms:W3CDTF">2026-09-21T07:48:42Z</dcterms:created>
  <dcterms:modified xsi:type="dcterms:W3CDTF">2026-09-24T08:09:23Z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